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slide_1_Google_Shape_88_p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</p:spPr>
      </p:pic>
      <p:pic>
        <p:nvPicPr>
          <p:cNvPr id="4" name="Picture 3" descr="slide_1_Google_Shape_89_p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2000000"/>
            <a:ext cx="16824960" cy="7600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00" y="2300000"/>
            <a:ext cx="16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4A017"/>
                </a:solidFill>
                <a:latin typeface="Arial"/>
              </a:defRPr>
            </a:pPr>
            <a:r>
              <a:t>HACK IN HILLS '26  •  PROBLEM STATEMENT 03: COMMODITY DERIVATIVES INTELLIGENCE</a:t>
            </a:r>
          </a:p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Arial"/>
              </a:defRPr>
            </a:pPr>
            <a:r>
              <a:t>GOLD INTELLIGENCE</a:t>
            </a:r>
          </a:p>
          <a:p>
            <a:pPr>
              <a:spcAft>
                <a:spcPts val="24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Institutional Quantitative Relative-Value &amp; Parity Arbitrage Platform for MCX Commodity Derivatives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0000" y="4900000"/>
            <a:ext cx="3800000" cy="14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0000" y="5000000"/>
            <a:ext cx="3560000" cy="12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PARITY ENGINE</a:t>
            </a:r>
          </a:p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₹ / Fine Gram</a:t>
            </a:r>
          </a:p>
          <a:p>
            <a:pPr>
              <a:defRPr sz="850">
                <a:solidFill>
                  <a:srgbClr val="CBD5E1"/>
                </a:solidFill>
                <a:latin typeface="Arial"/>
              </a:defRPr>
            </a:pPr>
            <a:r>
              <a:t>Deterministic basis across GOLDM, GOLDTEN, GOLDGUINEA, GOLDPETAL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0000" y="4900000"/>
            <a:ext cx="3800000" cy="14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0000" y="5000000"/>
            <a:ext cx="3560000" cy="12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MARKET NEUTRALITY</a:t>
            </a:r>
          </a:p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Beta = 0.002</a:t>
            </a:r>
          </a:p>
          <a:p>
            <a:pPr>
              <a:defRPr sz="850">
                <a:solidFill>
                  <a:srgbClr val="CBD5E1"/>
                </a:solidFill>
                <a:latin typeface="Arial"/>
              </a:defRPr>
            </a:pPr>
            <a:r>
              <a:t>Zero directional gold exposure; pure cross-contract alpha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0000" y="4900000"/>
            <a:ext cx="3800000" cy="14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0" y="5000000"/>
            <a:ext cx="3560000" cy="12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REAL-WORLD FRICTIONS</a:t>
            </a:r>
          </a:p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Triple-Filter Gate</a:t>
            </a:r>
          </a:p>
          <a:p>
            <a:pPr>
              <a:defRPr sz="850">
                <a:solidFill>
                  <a:srgbClr val="CBD5E1"/>
                </a:solidFill>
                <a:latin typeface="Arial"/>
              </a:defRPr>
            </a:pPr>
            <a:r>
              <a:t>CTT, Stamp Duty, MCX turnover fee, GST &amp; slippage accounted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10000" y="4900000"/>
            <a:ext cx="3800000" cy="14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30000" y="5000000"/>
            <a:ext cx="3560000" cy="12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950" b="1">
                <a:solidFill>
                  <a:srgbClr val="94A3B8"/>
                </a:solidFill>
                <a:latin typeface="Arial"/>
              </a:defRPr>
            </a:pPr>
            <a:r>
              <a:t>PRODUCTION STATUS</a:t>
            </a:r>
          </a:p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100% Implemented</a:t>
            </a:r>
          </a:p>
          <a:p>
            <a:pPr>
              <a:defRPr sz="850">
                <a:solidFill>
                  <a:srgbClr val="CBD5E1"/>
                </a:solidFill>
                <a:latin typeface="Arial"/>
              </a:defRPr>
            </a:pPr>
            <a:r>
              <a:t>FastAPI Core + SQLite DB + React Terminal + 25/25 Passing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6700000"/>
            <a:ext cx="16000000" cy="12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4A017"/>
                </a:solidFill>
                <a:latin typeface="Arial"/>
              </a:defRPr>
            </a:pPr>
            <a:r>
              <a:t>DEVELOPED BY TEAM LNX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Rudra Sharma (Data Science &amp; Analytics)   •   Ayush Argulwar (Backend &amp; Data Engineering)   •   Rohit Thoke (Frontend &amp; Quantitative UI)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PROBLEM STATEMENT: THE CONTRACT PARITY ILLUSION &amp; EXECUTION TRAP</a:t>
            </a:r>
          </a:p>
        </p:txBody>
      </p:sp>
      <p:pic>
        <p:nvPicPr>
          <p:cNvPr id="5" name="Picture 4" descr="problem_comparison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9600000" cy="68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550000" y="2350000"/>
            <a:ext cx="7000000" cy="4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0" y="2550000"/>
            <a:ext cx="6500000" cy="4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243A"/>
                </a:solidFill>
                <a:latin typeface="Arial"/>
              </a:defRPr>
            </a:pPr>
            <a:r>
              <a:t>THE THREE HIDDEN PITFALLS IN COMMODITY SPREADS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Dimensional Mismatch: </a:t>
            </a:r>
            <a:r>
              <a:rPr sz="1050">
                <a:solidFill>
                  <a:srgbClr val="172538"/>
                </a:solidFill>
                <a:latin typeface="Arial"/>
              </a:rPr>
              <a:t>MCX lists 4 distinct gold contracts with varying lot sizes (100g down to 1g), quoting units (Rs/10g vs Rs/1g vs Rs/8g), and differing purity standards (995 vs 999). Direct price comparisons are meaningless apples-to-oranges illusions.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The Liquidity Mirage: </a:t>
            </a:r>
            <a:r>
              <a:rPr sz="1050">
                <a:solidFill>
                  <a:srgbClr val="172538"/>
                </a:solidFill>
                <a:latin typeface="Arial"/>
              </a:rPr>
              <a:t>Micro contracts (GOLDPETAL, GOLDGUINEA) frequently exhibit optical mispricings during illiquid trading sessions. These anomalies cannot be harvested in practice because order books lack genuine depth.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Statutory Cost Erosion: </a:t>
            </a:r>
            <a:r>
              <a:rPr sz="1050">
                <a:solidFill>
                  <a:srgbClr val="172538"/>
                </a:solidFill>
                <a:latin typeface="Arial"/>
              </a:rPr>
              <a:t>Arbitrage spreads appear attractive on paper but are rapidly eradicated by Indian regulatory charges: Commodity Transaction Tax (0.01%), Stamp Duty (0.002%), MCX Turnover Charges, GST (18%), and execution slippage.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50000" y="7000000"/>
            <a:ext cx="7000000" cy="2150000"/>
          </a:xfrm>
          <a:prstGeom prst="roundRect">
            <a:avLst/>
          </a:prstGeom>
          <a:solidFill>
            <a:srgbClr val="ECF2FF"/>
          </a:solidFill>
          <a:ln w="12700">
            <a:solidFill>
              <a:srgbClr val="245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0" y="7180000"/>
            <a:ext cx="6500000" cy="17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245BDB"/>
                </a:solidFill>
                <a:latin typeface="Arial"/>
              </a:defRPr>
            </a:pPr>
            <a:r>
              <a:t>CORE RESEARCH QUESTION (PROBLEM STATEMENT 03)</a:t>
            </a:r>
          </a:p>
          <a:p>
            <a:pPr>
              <a:defRPr sz="1200" b="1">
                <a:solidFill>
                  <a:srgbClr val="14243A"/>
                </a:solidFill>
                <a:latin typeface="Arial"/>
              </a:defRPr>
            </a:pPr>
            <a:r>
              <a:t>"How can commodity researchers continuously normalize multi-contract MCX gold futures, detect statistically significant relative-value dislocations, and filter out false signals that fail real-world liquidity and transaction cost hurdles?"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PROPOSED SOLUTION: SYSTEMIC RELATIVE-VALUE INTELLIGENCE</a:t>
            </a:r>
          </a:p>
        </p:txBody>
      </p:sp>
      <p:pic>
        <p:nvPicPr>
          <p:cNvPr id="5" name="Picture 4" descr="solution_workflow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16824960" cy="39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6400000"/>
            <a:ext cx="54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400000"/>
            <a:ext cx="5400000" cy="60000"/>
          </a:xfrm>
          <a:prstGeom prst="rect">
            <a:avLst/>
          </a:prstGeom>
          <a:solidFill>
            <a:srgbClr val="138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520" y="6580000"/>
            <a:ext cx="4900000" cy="2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DIRECTIONAL AGNOSTICISM</a:t>
            </a:r>
          </a:p>
          <a:p>
            <a:pPr>
              <a:spcAft>
                <a:spcPts val="1000"/>
              </a:spcAft>
              <a:defRPr sz="1050" b="1">
                <a:solidFill>
                  <a:srgbClr val="13834A"/>
                </a:solidFill>
                <a:latin typeface="Consolas"/>
              </a:defRPr>
            </a:pPr>
            <a:r>
              <a:t>Beta = 0.002  •  Pure Relative Alpha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Orthogonal Returns: </a:t>
            </a:r>
            <a:r>
              <a:rPr sz="1100">
                <a:solidFill>
                  <a:srgbClr val="172538"/>
                </a:solidFill>
                <a:latin typeface="Arial"/>
              </a:rPr>
              <a:t>Alpha is uncorrelated with directional gold rallies or selloffs (Beta = 0.002, Rho = 0.051).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Basis Modeling: </a:t>
            </a:r>
            <a:r>
              <a:rPr sz="1100">
                <a:solidFill>
                  <a:srgbClr val="172538"/>
                </a:solidFill>
                <a:latin typeface="Arial"/>
              </a:rPr>
              <a:t>Trades cross-contract statistical mispricing rather than guessing macro price direction.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Capital Efficiency: </a:t>
            </a:r>
            <a:r>
              <a:rPr sz="1100">
                <a:solidFill>
                  <a:srgbClr val="172538"/>
                </a:solidFill>
                <a:latin typeface="Arial"/>
              </a:rPr>
              <a:t>Market-neutral pairing significantly dampens portfolio margin volatility during shocks.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4000" y="6400000"/>
            <a:ext cx="54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4000" y="6400000"/>
            <a:ext cx="5400000" cy="6000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4000" y="6580000"/>
            <a:ext cx="4900000" cy="2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PURITY-ADJUSTED NORMALIZATION</a:t>
            </a:r>
          </a:p>
          <a:p>
            <a:pPr>
              <a:spcAft>
                <a:spcPts val="1000"/>
              </a:spcAft>
              <a:defRPr sz="1050" b="1">
                <a:solidFill>
                  <a:srgbClr val="245BDB"/>
                </a:solidFill>
                <a:latin typeface="Consolas"/>
              </a:defRPr>
            </a:pPr>
            <a:r>
              <a:t>Uniform Rs / Fine Gram (1000 Fineness)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Deterministic Transform: </a:t>
            </a:r>
            <a:r>
              <a:rPr sz="1100">
                <a:solidFill>
                  <a:srgbClr val="172538"/>
                </a:solidFill>
                <a:latin typeface="Arial"/>
              </a:rPr>
              <a:t>Divides quote by quotation unit and scales by (1000 / Purity) to yield true fine-gram value.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Canonical Standard: </a:t>
            </a:r>
            <a:r>
              <a:rPr sz="1100">
                <a:solidFill>
                  <a:srgbClr val="172538"/>
                </a:solidFill>
                <a:latin typeface="Arial"/>
              </a:rPr>
              <a:t>Eliminates apples-to-oranges quoting illusions across GOLDM, GOLDTEN, GOLDGUINEA, GOLDPETAL.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Stationary Baseline: </a:t>
            </a:r>
            <a:r>
              <a:rPr sz="1100">
                <a:solidFill>
                  <a:srgbClr val="172538"/>
                </a:solidFill>
                <a:latin typeface="Arial"/>
              </a:rPr>
              <a:t>Basis points representation preserves comparability across low and high gold price cycles.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56480" y="6400000"/>
            <a:ext cx="5400000" cy="30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56480" y="6400000"/>
            <a:ext cx="5400000" cy="6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6480" y="6580000"/>
            <a:ext cx="4900000" cy="2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EXECUTION REALITY FILTER</a:t>
            </a:r>
          </a:p>
          <a:p>
            <a:pPr>
              <a:spcAft>
                <a:spcPts val="1000"/>
              </a:spcAft>
              <a:defRPr sz="1050" b="1">
                <a:solidFill>
                  <a:srgbClr val="D4A017"/>
                </a:solidFill>
                <a:latin typeface="Consolas"/>
              </a:defRPr>
            </a:pPr>
            <a:r>
              <a:t>Zero Paper Alpha  •  Frictions First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Liquidity Enforcement: </a:t>
            </a:r>
            <a:r>
              <a:rPr sz="1100">
                <a:solidFill>
                  <a:srgbClr val="172538"/>
                </a:solidFill>
                <a:latin typeface="Arial"/>
              </a:rPr>
              <a:t>Requires active market depth (&gt;100 lots vol, &gt;500 OI) to reject phantom illiquid prints.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Tender Safety: </a:t>
            </a:r>
            <a:r>
              <a:rPr sz="1100">
                <a:solidFill>
                  <a:srgbClr val="172538"/>
                </a:solidFill>
                <a:latin typeface="Arial"/>
              </a:rPr>
              <a:t>Halts trading 5 days prior to contract expiry, avoiding physical delivery margin surges.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45BDB"/>
                </a:solidFill>
                <a:latin typeface="Arial"/>
              </a:rPr>
              <a:t>▪ </a:t>
            </a:r>
            <a:r>
              <a:rPr sz="1100" b="1">
                <a:solidFill>
                  <a:srgbClr val="14243A"/>
                </a:solidFill>
                <a:latin typeface="Arial"/>
              </a:rPr>
              <a:t>Cost Hurdle: </a:t>
            </a:r>
            <a:r>
              <a:rPr sz="1100">
                <a:solidFill>
                  <a:srgbClr val="172538"/>
                </a:solidFill>
                <a:latin typeface="Arial"/>
              </a:rPr>
              <a:t>Prunes signals failing the ~14.0 bps round-trip hurdle (CTT + Stamp + MCX + GST + slippage).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SYSTEM ARCHITECTURE: 3-TIER PRODUCTION QUANT STACK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9800000" cy="68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50000" y="2350000"/>
            <a:ext cx="6800000" cy="6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0" y="2570000"/>
            <a:ext cx="6300000" cy="6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243A"/>
                </a:solidFill>
                <a:latin typeface="Arial"/>
              </a:defRPr>
            </a:pPr>
            <a:r>
              <a:t>TECHNICAL IMPLEMENTATION HIGHLIGHTS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Ingestion &amp; Calendar Alignment: </a:t>
            </a:r>
            <a:r>
              <a:rPr sz="1050">
                <a:solidFill>
                  <a:srgbClr val="172538"/>
                </a:solidFill>
                <a:latin typeface="Arial"/>
              </a:rPr>
              <a:t>SQLite / Bhavcopy repository ingests raw MCX records, parses complex contract strings (e.g. GOLDM04SEP2026), aligns trading calendars, and establishes 722 synchronous daily observations across 4 active contracts with zero forward data leakage.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Vectorized Quantitative Core: </a:t>
            </a:r>
            <a:r>
              <a:rPr sz="1050">
                <a:solidFill>
                  <a:srgbClr val="172538"/>
                </a:solidFill>
                <a:latin typeface="Arial"/>
              </a:rPr>
              <a:t>High-speed NumPy/Pandas statistical engine calculates basis spreads in basis points, rolling 20-day mean (mu), rolling volatility (sigma), standardized z-scores, and dynamic confidence bands in sub-millisecond execution cycles.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Event-Driven Backtest Engine: </a:t>
            </a:r>
            <a:r>
              <a:rPr sz="1050">
                <a:solidFill>
                  <a:srgbClr val="172538"/>
                </a:solidFill>
                <a:latin typeface="Arial"/>
              </a:rPr>
              <a:t>Simulates order placement strictly on the next day's open (t+1 execution). Fully deducts statutory CTT, Stamp Duty, MCX turnover fees, GST, and bid-ask slippage. Automatically liquidates positions at expiry to prevent physical delivery liabilities.</a:t>
            </a:r>
          </a:p>
          <a:p>
            <a:pPr>
              <a:spcAft>
                <a:spcPts val="10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Institutional Terminal &amp; API: </a:t>
            </a:r>
            <a:r>
              <a:rPr sz="1050">
                <a:solidFill>
                  <a:srgbClr val="172538"/>
                </a:solidFill>
                <a:latin typeface="Arial"/>
              </a:rPr>
              <a:t>FastAPI asynchronous REST endpoints serve normalized analytics, rolling spreads, anomaly tables, and backtest telemetry directly to a modern institutional React terminal with full keyboard navigation and multi-pair drill-down.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MATHEMATICAL FOUNDATION: EQUATIONS &amp; STATISTICAL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8250000" cy="3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520" y="2500000"/>
            <a:ext cx="77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45BDB"/>
                </a:solidFill>
                <a:latin typeface="Arial"/>
              </a:defRPr>
            </a:pPr>
            <a:r>
              <a:t>1. PURITY-ADJUSTED FINE GRAM PRICING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14243A"/>
                </a:solidFill>
                <a:latin typeface="Consolas"/>
              </a:defRPr>
            </a:pPr>
            <a:r>
              <a:t>P_fine,t = ( P_raw,t / QuotationUnit ) × ( 1000 / Purity )</a:t>
            </a:r>
          </a:p>
          <a:p>
            <a:pPr>
              <a:spcAft>
                <a:spcPts val="600"/>
              </a:spcAft>
              <a:defRPr sz="1050">
                <a:solidFill>
                  <a:srgbClr val="172538"/>
                </a:solidFill>
                <a:latin typeface="Arial"/>
              </a:defRPr>
            </a:pPr>
            <a:r>
              <a:t>• Converts disparate lots &amp; quotes to uniform basis: Rs per 1.000g of 1000-fineness gold.</a:t>
            </a:r>
            <a:br/>
            <a:r>
              <a:t>• Eliminates misleading visual differentials caused purely by exchange lot quotation conventions.</a:t>
            </a:r>
          </a:p>
          <a:p>
            <a:pPr>
              <a:defRPr sz="1050">
                <a:solidFill>
                  <a:srgbClr val="245BDB"/>
                </a:solidFill>
                <a:latin typeface="Consolas"/>
              </a:defRPr>
            </a:pPr>
            <a:r>
              <a:t>EMPIRICAL CONVERSION EXAMPLE:</a:t>
            </a:r>
            <a:br/>
            <a:r>
              <a:t>GOLDM @ Rs 75,000/10g (995) → (75,000 / 10) × (1000 / 995) = Rs 7,537.69 / fine gram</a:t>
            </a:r>
            <a:br/>
            <a:r>
              <a:t>GOLDPETAL @ Rs 7,550/1g (999) → (7,550 / 1) × (1000 / 999) = Rs 7,557.56 / fine 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00000" y="2350000"/>
            <a:ext cx="8250000" cy="3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50000" y="2500000"/>
            <a:ext cx="77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45BDB"/>
                </a:solidFill>
                <a:latin typeface="Arial"/>
              </a:defRPr>
            </a:pPr>
            <a:r>
              <a:t>2. NORMALIZED BASIS SPREAD (BASIS POINTS)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14243A"/>
                </a:solidFill>
                <a:latin typeface="Consolas"/>
              </a:defRPr>
            </a:pPr>
            <a:r>
              <a:t>S_t = [ ( P_A,t^fine - P_B,t^fine ) / P_B,t^fine ] × 10,000 bps</a:t>
            </a:r>
          </a:p>
          <a:p>
            <a:pPr>
              <a:spcAft>
                <a:spcPts val="600"/>
              </a:spcAft>
              <a:defRPr sz="1050">
                <a:solidFill>
                  <a:srgbClr val="172538"/>
                </a:solidFill>
                <a:latin typeface="Arial"/>
              </a:defRPr>
            </a:pPr>
            <a:r>
              <a:t>• Expresses cross-contract divergence in basis points (1 bp = 0.01%) relative to base contract.</a:t>
            </a:r>
            <a:br/>
            <a:r>
              <a:t>• Standardizes spread scale across differing gold price regimes (Rs 50k vs Rs 85k), maintaining stationarity.</a:t>
            </a:r>
          </a:p>
          <a:p>
            <a:pPr>
              <a:defRPr sz="1050">
                <a:solidFill>
                  <a:srgbClr val="245BDB"/>
                </a:solidFill>
                <a:latin typeface="Consolas"/>
              </a:defRPr>
            </a:pPr>
            <a:r>
              <a:t>EMPIRICAL SPREAD CALCULATION:</a:t>
            </a:r>
            <a:br/>
            <a:r>
              <a:t>S_t = [(Rs 7,537.69 - Rs 7,557.56) / Rs 7,557.56] × 10,000 = -26.3 bps</a:t>
            </a:r>
            <a:br/>
            <a:r>
              <a:t>Indicates GOLDM is trading at a 26.3 bps discount relative to GOLDPETAL.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00000"/>
            <a:ext cx="8250000" cy="3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520" y="6050000"/>
            <a:ext cx="77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45BDB"/>
                </a:solidFill>
                <a:latin typeface="Arial"/>
              </a:defRPr>
            </a:pPr>
            <a:r>
              <a:t>3. STANDARDIZED DEVIATION (Z-SCORE)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400" b="1">
                <a:solidFill>
                  <a:srgbClr val="14243A"/>
                </a:solidFill>
                <a:latin typeface="Consolas"/>
              </a:defRPr>
            </a:pPr>
            <a:r>
              <a:t>Z_t = [ S_t - mu_t(w) ] / sigma_t(w)     |     Trigger: |Z_t| &gt;= 2.0</a:t>
            </a:r>
          </a:p>
          <a:p>
            <a:pPr>
              <a:spcAft>
                <a:spcPts val="600"/>
              </a:spcAft>
              <a:defRPr sz="1050">
                <a:solidFill>
                  <a:srgbClr val="172538"/>
                </a:solidFill>
                <a:latin typeface="Arial"/>
              </a:defRPr>
            </a:pPr>
            <a:r>
              <a:t>• mu_t and sigma_t computed over rolling trailing window (w = 20 days) with zero look-ahead bias.</a:t>
            </a:r>
            <a:br/>
            <a:r>
              <a:t>• Anomaly trigger: |Z_t| &gt;= 2.0 flags statistically extreme departures (p &lt; 0.05 under Gaussian assumption).</a:t>
            </a:r>
          </a:p>
          <a:p>
            <a:pPr>
              <a:defRPr sz="1050">
                <a:solidFill>
                  <a:srgbClr val="13834A"/>
                </a:solidFill>
                <a:latin typeface="Consolas"/>
              </a:defRPr>
            </a:pPr>
            <a:r>
              <a:t>STATISTICAL TRIGGER EVENT:</a:t>
            </a:r>
            <a:br/>
            <a:r>
              <a:t>Trailing Baseline: mu_t = -5.2 bps, sigma_t = 6.4 bps</a:t>
            </a:r>
            <a:br/>
            <a:r>
              <a:t>Z_t = [-26.3 - (-5.2)] / 6.4 = -3.29 SD  →  Triggers Statistically Significant Anomaly!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0000" y="5900000"/>
            <a:ext cx="8250000" cy="3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0000" y="6050000"/>
            <a:ext cx="7750000" cy="29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45BDB"/>
                </a:solidFill>
                <a:latin typeface="Arial"/>
              </a:defRPr>
            </a:pPr>
            <a:r>
              <a:t>4. STATUTORY TRANSACTION COST HURDLE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D64550"/>
                </a:solidFill>
                <a:latin typeface="Consolas"/>
              </a:defRPr>
            </a:pPr>
            <a:r>
              <a:t>H_cost = 2 × [ CTT(0.01%) + Stamp(0.002%) + MCX + GST + Slip ] ≈ 14.0 bps</a:t>
            </a:r>
          </a:p>
          <a:p>
            <a:pPr>
              <a:spcAft>
                <a:spcPts val="600"/>
              </a:spcAft>
              <a:defRPr sz="1050">
                <a:solidFill>
                  <a:srgbClr val="172538"/>
                </a:solidFill>
                <a:latin typeface="Arial"/>
              </a:defRPr>
            </a:pPr>
            <a:r>
              <a:t>• Qualification Requirement: Expected Mean Reversion |S_t - mu_t| must strictly exceed H_cost.</a:t>
            </a:r>
            <a:br/>
            <a:r>
              <a:t>• Eliminates capital burn by filtering out statistically valid but economically negative signals.</a:t>
            </a:r>
          </a:p>
          <a:p>
            <a:pPr>
              <a:defRPr sz="1050">
                <a:solidFill>
                  <a:srgbClr val="13834A"/>
                </a:solidFill>
                <a:latin typeface="Consolas"/>
              </a:defRPr>
            </a:pPr>
            <a:r>
              <a:t>QUALIFICATION DECISION:</a:t>
            </a:r>
            <a:br/>
            <a:r>
              <a:t>Gross Expected Reversion: |-26.3 - (-5.2)| = 21.1 bps</a:t>
            </a:r>
            <a:br/>
            <a:r>
              <a:t>Round-Trip Friction H_cost: 14.0 bps  →  Net Alpha: +7.1 bps &gt; 0  →  QUALIFIED TRADABLE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THE REALITY CHECK: TRIPLE-FILTER EXECUTION GATE</a:t>
            </a:r>
          </a:p>
        </p:txBody>
      </p:sp>
      <p:pic>
        <p:nvPicPr>
          <p:cNvPr id="5" name="Picture 4" descr="triple_filter_g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9800000" cy="68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50000" y="2350000"/>
            <a:ext cx="6800000" cy="6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0" y="2570000"/>
            <a:ext cx="6300000" cy="6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243A"/>
                </a:solidFill>
                <a:latin typeface="Arial"/>
              </a:defRPr>
            </a:pPr>
            <a:r>
              <a:t>WHY &gt;75% OF RAW STATISTICAL SIGNALS ARE REJECTED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Gate 1: Minimum Liquidity Threshold: </a:t>
            </a:r>
            <a:r>
              <a:rPr sz="1050">
                <a:solidFill>
                  <a:srgbClr val="172538"/>
                </a:solidFill>
                <a:latin typeface="Arial"/>
              </a:rPr>
              <a:t>Requires minimum daily volume (&gt;100 lots) and open interest (&gt;500 contracts) on both legs. Completely filters out ghost prints, stale quotes, and wide bid-ask gaps that mislead naive quantitative algorithms.</a:t>
            </a:r>
          </a:p>
          <a:p>
            <a:pPr>
              <a:spcAft>
                <a:spcPts val="12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Gate 2: Expiry Window Protection: </a:t>
            </a:r>
            <a:r>
              <a:rPr sz="1050">
                <a:solidFill>
                  <a:srgbClr val="172538"/>
                </a:solidFill>
                <a:latin typeface="Arial"/>
              </a:rPr>
              <a:t>Rejects trade entries when either contract is within 5 trading days of expiry. Avoids MCX compulsory delivery margin spikes, extreme tender-period volatility, and prohibitive contract rollover decay.</a:t>
            </a:r>
          </a:p>
          <a:p>
            <a:pPr>
              <a:spcAft>
                <a:spcPts val="1400"/>
              </a:spcAft>
            </a:pPr>
            <a:r>
              <a:rPr sz="1050" b="1">
                <a:solidFill>
                  <a:srgbClr val="245BDB"/>
                </a:solidFill>
                <a:latin typeface="Arial"/>
              </a:rPr>
              <a:t>▪ </a:t>
            </a:r>
            <a:r>
              <a:rPr sz="1050" b="1">
                <a:solidFill>
                  <a:srgbClr val="14243A"/>
                </a:solidFill>
                <a:latin typeface="Arial"/>
              </a:rPr>
              <a:t>Gate 3: Statutory Cost Hurdle: </a:t>
            </a:r>
            <a:r>
              <a:rPr sz="1050">
                <a:solidFill>
                  <a:srgbClr val="172538"/>
                </a:solidFill>
                <a:latin typeface="Arial"/>
              </a:rPr>
              <a:t>Deducts Indian exchange transaction fees, CTT, Stamp Duty, GST, and 3.5 bps bid-ask execution slippage per leg. A 2-sigma deviation is immediately disqualified if net profit after round-trip friction is &lt;=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000" y="7350000"/>
            <a:ext cx="6300000" cy="1550000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0000" y="7450000"/>
            <a:ext cx="610000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017"/>
                </a:solidFill>
                <a:latin typeface="Arial"/>
              </a:defRPr>
            </a:pPr>
            <a:r>
              <a:t>THE QUANTITATIVE REALITY GUARANTEE:</a:t>
            </a:r>
          </a:p>
          <a:p>
            <a:pPr>
              <a:defRPr sz="1050">
                <a:solidFill>
                  <a:srgbClr val="14243A"/>
                </a:solidFill>
                <a:latin typeface="Arial"/>
              </a:defRPr>
            </a:pPr>
            <a:r>
              <a:t>Every trade executed in our backtester is guaranteed to be liquid, executable, and statistically profitable AFTER all Indian exchange fees and taxes.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LIVE ANALYTICAL WORKSTATION: REAL SPREAD DYNAMICS &amp; DISLOCATIONS</a:t>
            </a:r>
          </a:p>
        </p:txBody>
      </p:sp>
      <p:pic>
        <p:nvPicPr>
          <p:cNvPr id="5" name="Picture 4" descr="spread_chart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9800000" cy="68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50000" y="2350000"/>
            <a:ext cx="6800000" cy="6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0" y="2570000"/>
            <a:ext cx="6300000" cy="6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243A"/>
                </a:solidFill>
                <a:latin typeface="Arial"/>
              </a:defRPr>
            </a:pPr>
            <a:r>
              <a:t>EMPIRICAL FINDINGS: GOLDM vs GOLDPETAL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Dynamic Volatility Envelope: </a:t>
            </a:r>
            <a:r>
              <a:rPr sz="1000">
                <a:solidFill>
                  <a:srgbClr val="172538"/>
                </a:solidFill>
                <a:latin typeface="Arial"/>
              </a:rPr>
              <a:t>Rolling 20-day mean baseline with ±2σ confidence bounds adapts dynamically to market regimes. Prevents false breakout triggers during periods of macro commodity volatility.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Standardized Peak Dislocation: 9.18σ: </a:t>
            </a:r>
            <a:r>
              <a:rPr sz="1000">
                <a:solidFill>
                  <a:srgbClr val="172538"/>
                </a:solidFill>
                <a:latin typeface="Arial"/>
              </a:rPr>
              <a:t>On historical MCX Bhavcopy data, GOLDM diverged by up to 9.18 standard deviations relative to GOLDPETAL. Our scanner flagged the divergence, validated liquidity depth, and confirmed mean reversion.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Instant Multi-Pair Exploration: </a:t>
            </a:r>
            <a:r>
              <a:rPr sz="1000">
                <a:solidFill>
                  <a:srgbClr val="172538"/>
                </a:solidFill>
                <a:latin typeface="Arial"/>
              </a:rPr>
              <a:t>Users can toggle dynamically between contract combinations: GOLDM/GOLDPETAL, GOLDTEN/GOLDGUINEA, GOLDM/GOLDTEN with synchronized order book depth and rolling z-scores.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000" y="6650000"/>
            <a:ext cx="6300000" cy="2250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0000" y="6750000"/>
            <a:ext cx="6100000" cy="20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4243A"/>
                </a:solidFill>
                <a:latin typeface="Arial"/>
              </a:defRPr>
            </a:pPr>
            <a:r>
              <a:t>EMPIRICAL ANOMALY EVENT LOG (MCX BHAVCOPY EXCERPT)</a:t>
            </a:r>
          </a:p>
          <a:p>
            <a:pPr>
              <a:defRPr sz="850">
                <a:solidFill>
                  <a:srgbClr val="13834A"/>
                </a:solidFill>
                <a:latin typeface="Consolas"/>
              </a:defRPr>
            </a:pPr>
            <a:r>
              <a:t>2026-03-12  |  GOLDM / PETAL  |  Z: -9.18 SD  |  Spread: -26.3 bps  |  QUALIFIED VIABLE</a:t>
            </a:r>
          </a:p>
          <a:p>
            <a:pPr>
              <a:defRPr sz="850">
                <a:solidFill>
                  <a:srgbClr val="13834A"/>
                </a:solidFill>
                <a:latin typeface="Consolas"/>
              </a:defRPr>
            </a:pPr>
            <a:r>
              <a:t>2026-04-18  |  TEN / GUINEA   |  Z: +4.82 SD  |  Spread: +18.4 bps  |  QUALIFIED VIABLE</a:t>
            </a:r>
          </a:p>
          <a:p>
            <a:pPr>
              <a:defRPr sz="850">
                <a:solidFill>
                  <a:srgbClr val="D64550"/>
                </a:solidFill>
                <a:latin typeface="Consolas"/>
              </a:defRPr>
            </a:pPr>
            <a:r>
              <a:t>2026-05-22  |  GOLDM / TEN    |  Z: +2.11 SD  |  Spread: +7.9 bps   |  REJECTED (COST HURDLE)</a:t>
            </a:r>
          </a:p>
          <a:p>
            <a:pPr>
              <a:defRPr sz="850">
                <a:solidFill>
                  <a:srgbClr val="687587"/>
                </a:solidFill>
                <a:latin typeface="Consolas"/>
              </a:defRPr>
            </a:pPr>
            <a:r>
              <a:t>2026-06-15  |  GUINEA / PETAL  |  Z: -2.84 SD  |  Spread: -11.2 bps  |  REJECTED (EXPIRY GATE)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EMPIRICAL VALIDATION: ZERO LOOK-AHEAD BACKTESTING RESULTS</a:t>
            </a:r>
          </a:p>
        </p:txBody>
      </p:sp>
      <p:pic>
        <p:nvPicPr>
          <p:cNvPr id="5" name="Picture 4" descr="backtest_performance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50000"/>
            <a:ext cx="9800000" cy="68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50000" y="2350000"/>
            <a:ext cx="32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70000" y="2450000"/>
            <a:ext cx="301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87587"/>
                </a:solidFill>
                <a:latin typeface="Arial"/>
              </a:defRPr>
            </a:pPr>
            <a:r>
              <a:t>BETA TO UNDERLYING GOLD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13834A"/>
                </a:solidFill>
                <a:latin typeface="Consolas"/>
              </a:defRPr>
            </a:pPr>
            <a:r>
              <a:t>β = 0.002</a:t>
            </a:r>
          </a:p>
          <a:p>
            <a:pPr>
              <a:defRPr sz="900">
                <a:solidFill>
                  <a:srgbClr val="172538"/>
                </a:solidFill>
                <a:latin typeface="Arial"/>
              </a:defRPr>
            </a:pPr>
            <a:r>
              <a:t>Zero directional exposure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00000" y="2350000"/>
            <a:ext cx="32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20000" y="2450000"/>
            <a:ext cx="301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87587"/>
                </a:solidFill>
                <a:latin typeface="Arial"/>
              </a:defRPr>
            </a:pPr>
            <a:r>
              <a:t>GOLD PRICE CORRELATION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245BDB"/>
                </a:solidFill>
                <a:latin typeface="Consolas"/>
              </a:defRPr>
            </a:pPr>
            <a:r>
              <a:t>ρ = 0.051</a:t>
            </a:r>
          </a:p>
          <a:p>
            <a:pPr>
              <a:defRPr sz="900">
                <a:solidFill>
                  <a:srgbClr val="172538"/>
                </a:solidFill>
                <a:latin typeface="Arial"/>
              </a:defRPr>
            </a:pPr>
            <a:r>
              <a:t>Strict market neutrality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50000" y="3900000"/>
            <a:ext cx="32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70000" y="4000000"/>
            <a:ext cx="301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87587"/>
                </a:solidFill>
                <a:latin typeface="Arial"/>
              </a:defRPr>
            </a:pPr>
            <a:r>
              <a:t>FRICTION MODELING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D4A017"/>
                </a:solidFill>
                <a:latin typeface="Consolas"/>
              </a:defRPr>
            </a:pPr>
            <a:r>
              <a:t>100% Deducted</a:t>
            </a:r>
          </a:p>
          <a:p>
            <a:pPr>
              <a:defRPr sz="900">
                <a:solidFill>
                  <a:srgbClr val="172538"/>
                </a:solidFill>
                <a:latin typeface="Arial"/>
              </a:defRPr>
            </a:pPr>
            <a:r>
              <a:t>CTT + Stamp + MCX + Slippage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00000" y="3900000"/>
            <a:ext cx="3250000" cy="1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20000" y="4000000"/>
            <a:ext cx="3010000" cy="1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87587"/>
                </a:solidFill>
                <a:latin typeface="Arial"/>
              </a:defRPr>
            </a:pPr>
            <a:r>
              <a:t>UNIT TEST COVERAGE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13834A"/>
                </a:solidFill>
                <a:latin typeface="Consolas"/>
              </a:defRPr>
            </a:pPr>
            <a:r>
              <a:t>25 / 25 Passing</a:t>
            </a:r>
          </a:p>
          <a:p>
            <a:pPr>
              <a:defRPr sz="900">
                <a:solidFill>
                  <a:srgbClr val="172538"/>
                </a:solidFill>
                <a:latin typeface="Arial"/>
              </a:defRPr>
            </a:pPr>
            <a:r>
              <a:t>Pytest automated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50000" y="5550000"/>
            <a:ext cx="6800000" cy="3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00000" y="5700000"/>
            <a:ext cx="6300000" cy="3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4243A"/>
                </a:solidFill>
                <a:latin typeface="Arial"/>
              </a:defRPr>
            </a:pPr>
            <a:r>
              <a:t>BACKTESTING METHODOLOGY &amp; INTEGRITY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Next-Bar Execution (t+1): </a:t>
            </a:r>
            <a:r>
              <a:rPr sz="1000">
                <a:solidFill>
                  <a:srgbClr val="172538"/>
                </a:solidFill>
                <a:latin typeface="Arial"/>
              </a:rPr>
              <a:t>Signals detected at bar close (t) are filled on the next morning's opening bar (t+1). Prevents unrealistic same-bar execution bias and reflects institutional trading latency.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No Look-Ahead &amp; No Data Snooping: </a:t>
            </a:r>
            <a:r>
              <a:rPr sz="1000">
                <a:solidFill>
                  <a:srgbClr val="172538"/>
                </a:solidFill>
                <a:latin typeface="Arial"/>
              </a:rPr>
              <a:t>Rolling statistics (mean &amp; standard deviation) strictly use trailing window data. The algorithm never possesses knowledge of future price prints.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45BDB"/>
                </a:solidFill>
                <a:latin typeface="Arial"/>
              </a:rPr>
              <a:t>▪ </a:t>
            </a:r>
            <a:r>
              <a:rPr sz="1000" b="1">
                <a:solidFill>
                  <a:srgbClr val="14243A"/>
                </a:solidFill>
                <a:latin typeface="Arial"/>
              </a:rPr>
              <a:t>True Market Neutrality Proven: </a:t>
            </a:r>
            <a:r>
              <a:rPr sz="1000">
                <a:solidFill>
                  <a:srgbClr val="172538"/>
                </a:solidFill>
                <a:latin typeface="Arial"/>
              </a:rPr>
              <a:t>The beta of 0.002 confirms that strategy equity growth is driven entirely by convergence of relative mispricings—not by riding gold's secular bull trend.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_2_Google_Shape_98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50000"/>
            <a:ext cx="1682496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BDB"/>
                </a:solidFill>
                <a:latin typeface="Arial"/>
              </a:defRPr>
            </a:pPr>
            <a:r>
              <a:t>HACK IN HILLS '26  •  PROBLEM 03: COMMODITY DERIVATIVES INTELLIGENCE  •  TEAM LNX</a:t>
            </a:r>
          </a:p>
          <a:p>
            <a:pPr>
              <a:defRPr sz="2500" b="1">
                <a:solidFill>
                  <a:srgbClr val="14243A"/>
                </a:solidFill>
                <a:latin typeface="Arial"/>
              </a:defRPr>
            </a:pPr>
            <a:r>
              <a:t>MARKET IMPACT, TARGET USERS &amp; EXPANSION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50000"/>
            <a:ext cx="54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50000"/>
            <a:ext cx="5400000" cy="60000"/>
          </a:xfrm>
          <a:prstGeom prst="rect">
            <a:avLst/>
          </a:prstGeom>
          <a:solidFill>
            <a:srgbClr val="24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1520" y="2500000"/>
            <a:ext cx="500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QUANT TRADING DESKS</a:t>
            </a:r>
          </a:p>
          <a:p>
            <a:pPr>
              <a:spcAft>
                <a:spcPts val="800"/>
              </a:spcAft>
              <a:defRPr sz="1050" b="1">
                <a:solidFill>
                  <a:srgbClr val="245BDB"/>
                </a:solidFill>
                <a:latin typeface="Consolas"/>
              </a:defRPr>
            </a:pPr>
            <a:r>
              <a:t>Proprietary Trading &amp; Hedge Funds</a:t>
            </a:r>
          </a:p>
          <a:p>
            <a:pPr>
              <a:defRPr sz="1100">
                <a:solidFill>
                  <a:srgbClr val="172538"/>
                </a:solidFill>
                <a:latin typeface="Arial"/>
              </a:defRPr>
            </a:pPr>
            <a:r>
              <a:t>• Low-latency automated relative-value execution feeds.</a:t>
            </a:r>
            <a:br/>
            <a:r>
              <a:t>• Pure market-neutral return profile (β = 0.002) for alpha books.</a:t>
            </a:r>
            <a:br/>
            <a:r>
              <a:t>• Webhook alert notifications on multi-sigma qualified dislocations.</a:t>
            </a:r>
            <a:br/>
            <a:r>
              <a:t>• Target TAM: 150+ Indian algorithmic trading &amp; prop desks.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4000" y="2350000"/>
            <a:ext cx="54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4000" y="2350000"/>
            <a:ext cx="5400000" cy="60000"/>
          </a:xfrm>
          <a:prstGeom prst="rect">
            <a:avLst/>
          </a:prstGeom>
          <a:solidFill>
            <a:srgbClr val="138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000" y="2500000"/>
            <a:ext cx="500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COMMODITY HEDGERS</a:t>
            </a:r>
          </a:p>
          <a:p>
            <a:pPr>
              <a:spcAft>
                <a:spcPts val="800"/>
              </a:spcAft>
              <a:defRPr sz="1050" b="1">
                <a:solidFill>
                  <a:srgbClr val="13834A"/>
                </a:solidFill>
                <a:latin typeface="Consolas"/>
              </a:defRPr>
            </a:pPr>
            <a:r>
              <a:t>Jewellers, Refiners &amp; Bullion Dealers</a:t>
            </a:r>
          </a:p>
          <a:p>
            <a:pPr>
              <a:defRPr sz="1100">
                <a:solidFill>
                  <a:srgbClr val="172538"/>
                </a:solidFill>
                <a:latin typeface="Arial"/>
              </a:defRPr>
            </a:pPr>
            <a:r>
              <a:t>• Optimal procurement intelligence: selects cheapest delivery basis.</a:t>
            </a:r>
            <a:br/>
            <a:r>
              <a:t>• Reduces basis slippage across physical inventory procurement.</a:t>
            </a:r>
            <a:br/>
            <a:r>
              <a:t>• Dynamic margin optimization across mini &amp; micro contract sizes.</a:t>
            </a:r>
            <a:br/>
            <a:r>
              <a:t>• Indian Market Scale: ~800 tonnes/year bullion demand (~$60B+).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156480" y="2350000"/>
            <a:ext cx="5400000" cy="3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156480" y="2350000"/>
            <a:ext cx="5400000" cy="60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56480" y="2500000"/>
            <a:ext cx="5000000" cy="2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4243A"/>
                </a:solidFill>
                <a:latin typeface="Arial"/>
              </a:defRPr>
            </a:pPr>
            <a:r>
              <a:t>INSTITUTIONAL ANALYSTS</a:t>
            </a:r>
          </a:p>
          <a:p>
            <a:pPr>
              <a:spcAft>
                <a:spcPts val="800"/>
              </a:spcAft>
              <a:defRPr sz="1050" b="1">
                <a:solidFill>
                  <a:srgbClr val="D4A017"/>
                </a:solidFill>
                <a:latin typeface="Consolas"/>
              </a:defRPr>
            </a:pPr>
            <a:r>
              <a:t>Brokerage Research &amp; Risk Desks</a:t>
            </a:r>
          </a:p>
          <a:p>
            <a:pPr>
              <a:defRPr sz="1100">
                <a:solidFill>
                  <a:srgbClr val="172538"/>
                </a:solidFill>
                <a:latin typeface="Arial"/>
              </a:defRPr>
            </a:pPr>
            <a:r>
              <a:t>• Comprehensive cross-contract parity audit workstation.</a:t>
            </a:r>
            <a:br/>
            <a:r>
              <a:t>• Historical dislocation analytics archive with backtest telemetry.</a:t>
            </a:r>
            <a:br/>
            <a:r>
              <a:t>• Automated compliance and fair-value reporting for SEBI audits.</a:t>
            </a:r>
            <a:br/>
            <a:r>
              <a:t>• Exchange Scope: ₹4+ Lakh Crores annual MCX commodity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50000"/>
            <a:ext cx="16824960" cy="3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520" y="6030000"/>
            <a:ext cx="16324960" cy="29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243A"/>
                </a:solidFill>
                <a:latin typeface="Arial"/>
              </a:defRPr>
            </a:pPr>
            <a:r>
              <a:t>MULTI-COMMODITY &amp; CROSS-EXCHANGE SCALABILITY ROADMAP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1520" y="6550000"/>
            <a:ext cx="5200000" cy="2200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1520" y="6650000"/>
            <a:ext cx="5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243A"/>
                </a:solidFill>
                <a:latin typeface="Arial"/>
              </a:defRPr>
            </a:pPr>
            <a:r>
              <a:t>Phase 1: MCX Gold (Active)</a:t>
            </a:r>
          </a:p>
          <a:p>
            <a:pPr>
              <a:spcAft>
                <a:spcPts val="400"/>
              </a:spcAft>
              <a:defRPr sz="950" b="1">
                <a:solidFill>
                  <a:srgbClr val="13834A"/>
                </a:solidFill>
                <a:latin typeface="Consolas"/>
              </a:defRPr>
            </a:pPr>
            <a:r>
              <a:t>100% Built &amp; Validated</a:t>
            </a:r>
          </a:p>
          <a:p>
            <a:pPr>
              <a:defRPr sz="950">
                <a:solidFill>
                  <a:srgbClr val="172538"/>
                </a:solidFill>
                <a:latin typeface="Arial"/>
              </a:defRPr>
            </a:pPr>
            <a:r>
              <a:t>▪ 4 Contracts: GOLDM, GOLDTEN, GOLDGUINEA, GOLDPETAL.</a:t>
            </a:r>
            <a:br/>
            <a:r>
              <a:t>▪ SQLite data repository with 722 synchronous daily bars.</a:t>
            </a:r>
            <a:br/>
            <a:r>
              <a:t>▪ Full FastAPI REST backend + Institutional React Workstation.</a:t>
            </a:r>
            <a:br/>
            <a:r>
              <a:t>▪ Comprehensive Pytest suite (25/25 tests passing).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1520" y="6550000"/>
            <a:ext cx="5200000" cy="2200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1520" y="6650000"/>
            <a:ext cx="5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243A"/>
                </a:solidFill>
                <a:latin typeface="Arial"/>
              </a:defRPr>
            </a:pPr>
            <a:r>
              <a:t>Phase 2: Multi-Commodity (Q3 2026)</a:t>
            </a:r>
          </a:p>
          <a:p>
            <a:pPr>
              <a:spcAft>
                <a:spcPts val="400"/>
              </a:spcAft>
              <a:defRPr sz="950" b="1">
                <a:solidFill>
                  <a:srgbClr val="245BDB"/>
                </a:solidFill>
                <a:latin typeface="Consolas"/>
              </a:defRPr>
            </a:pPr>
            <a:r>
              <a:t>Engine Extension</a:t>
            </a:r>
          </a:p>
          <a:p>
            <a:pPr>
              <a:defRPr sz="950">
                <a:solidFill>
                  <a:srgbClr val="172538"/>
                </a:solidFill>
                <a:latin typeface="Arial"/>
              </a:defRPr>
            </a:pPr>
            <a:r>
              <a:t>▪ Silver Complex: SILVER (30kg), SILVERM (5kg), SILVERMIC (1kg).</a:t>
            </a:r>
            <a:br/>
            <a:r>
              <a:t>▪ Energy Derivatives: Crude Oil vs Crude Oil Mini; Natural Gas.</a:t>
            </a:r>
            <a:br/>
            <a:r>
              <a:t>▪ Cross-commodity basis modeling (Gold/Silver ratio relative value).</a:t>
            </a:r>
            <a:br/>
            <a:r>
              <a:t>▪ Real-time WebSocket streaming feed ingestion.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181520" y="6550000"/>
            <a:ext cx="5200000" cy="220000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81520" y="6650000"/>
            <a:ext cx="5000000" cy="20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4243A"/>
                </a:solidFill>
                <a:latin typeface="Arial"/>
              </a:defRPr>
            </a:pPr>
            <a:r>
              <a:t>Phase 3: Cross-Exchange (Q4 2026)</a:t>
            </a:r>
          </a:p>
          <a:p>
            <a:pPr>
              <a:spcAft>
                <a:spcPts val="400"/>
              </a:spcAft>
              <a:defRPr sz="950" b="1">
                <a:solidFill>
                  <a:srgbClr val="D4A017"/>
                </a:solidFill>
                <a:latin typeface="Consolas"/>
              </a:defRPr>
            </a:pPr>
            <a:r>
              <a:t>Global Arbitrage</a:t>
            </a:r>
          </a:p>
          <a:p>
            <a:pPr>
              <a:defRPr sz="950">
                <a:solidFill>
                  <a:srgbClr val="172538"/>
                </a:solidFill>
                <a:latin typeface="Arial"/>
              </a:defRPr>
            </a:pPr>
            <a:r>
              <a:t>▪ MCX vs COMEX Gold relative-value arbitrage.</a:t>
            </a:r>
            <a:br/>
            <a:r>
              <a:t>▪ Automated FX conversion (USD/INR) &amp; import duty parity pricing.</a:t>
            </a:r>
            <a:br/>
            <a:r>
              <a:t>▪ FIX protocol integration for institutional direct market access (DMA).</a:t>
            </a:r>
            <a:br/>
            <a:r>
              <a:t>▪ Enterprise SaaS API &amp; custom risk alerts for proprietary trading desks.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untain_bg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slide_1_Google_Shape_88_p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</p:spPr>
      </p:pic>
      <p:pic>
        <p:nvPicPr>
          <p:cNvPr id="4" name="Picture 3" descr="slide_1_Google_Shape_89_p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900000"/>
            <a:ext cx="16824960" cy="7700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00" y="2200000"/>
            <a:ext cx="16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4A017"/>
                </a:solidFill>
                <a:latin typeface="Arial"/>
              </a:defRPr>
            </a:pPr>
            <a:r>
              <a:t>HACK IN HILLS '26  •  PROBLEM STATEMENT 03  •  FINAL EVALUATION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GOLD INTELLIGENCE: READY FOR LIVE DEMONSTRATION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A scientifically rigorous, fully implemented quantitative platform transforming raw exchange data into actionable commodity intelligence.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0000" y="4500000"/>
            <a:ext cx="3800000" cy="21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0000" y="4620000"/>
            <a:ext cx="3500000" cy="186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100% IMPLEMENTED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onsolas"/>
              </a:defRPr>
            </a:pPr>
            <a:r>
              <a:t>Zero Mockups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Live SQLite database, normalization pipeline, analytical statistical scanner, backtesting engine, and React terminal.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0000" y="4500000"/>
            <a:ext cx="3800000" cy="21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0000" y="4620000"/>
            <a:ext cx="3500000" cy="186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25/25 PASSING TESTS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onsolas"/>
              </a:defRPr>
            </a:pPr>
            <a:r>
              <a:t>Pytest Automated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Full test coverage across data ingestion, fine-gram parity conversion, cost hurdles, and portfolio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0000" y="4500000"/>
            <a:ext cx="3800000" cy="21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0000" y="4620000"/>
            <a:ext cx="3500000" cy="186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PURE QUANT ALPHA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onsolas"/>
              </a:defRPr>
            </a:pPr>
            <a:r>
              <a:t>Beta = 0.002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Uncorrelated market-neutral returns. Generates consistent performance without directional commodity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10000" y="4500000"/>
            <a:ext cx="3800000" cy="210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60000" y="4620000"/>
            <a:ext cx="3500000" cy="186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INSTITUTIONAL RIGOR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  <a:latin typeface="Consolas"/>
              </a:defRPr>
            </a:pPr>
            <a:r>
              <a:t>Triple-Filter Gate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Enforces realistic Indian exchange costs: CTT, Stamp Duty, MCX turnover fees, GST, and execution slippage.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7100000"/>
            <a:ext cx="16000000" cy="1800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4A017"/>
                </a:solidFill>
                <a:latin typeface="Arial"/>
              </a:defRPr>
            </a:pPr>
            <a:r>
              <a:t>PRESENTED BY TEAM LNX  •  HACK IN HILLS '26</a:t>
            </a:r>
          </a:p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Rudra Sharma (Data Science &amp; Quantitative Analytics)</a:t>
            </a:r>
            <a:br/>
            <a:r>
              <a:t>Ayush Argulwar (Backend Architecture &amp; Data Engineering)</a:t>
            </a:r>
            <a:br/>
            <a:r>
              <a:t>Rohit Thoke (Frontend Terminal &amp; Data Visualization)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